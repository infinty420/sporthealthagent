
<file path=[Content_Types].xml><?xml version="1.0" encoding="utf-8"?>
<Types xmlns="http://schemas.openxmlformats.org/package/2006/content-types">
  <Default Extension="png" ContentType="image/png"/>
  <Default Extension="mp4" ContentType="video/mp4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1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351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2FDB2607-1784-4EEB-B798-7EB5836EED8A}">
        <p14:showMediaCtrls xmlns:p14="http://schemas.microsoft.com/office/powerpoint/2010/main" val="1"/>
      </p:ext>
    </p:extLst>
  </p:showPr>
  <p:clrMru>
    <a:srgbClr val="08A8F6"/>
    <a:srgbClr val="0F7FF6"/>
    <a:srgbClr val="7BBC49"/>
    <a:srgbClr val="77BB69"/>
    <a:srgbClr val="329AD7"/>
    <a:srgbClr val="F7F9FC"/>
    <a:srgbClr val="9DC0E3"/>
    <a:srgbClr val="DFEAF6"/>
    <a:srgbClr val="E1E0E0"/>
    <a:srgbClr val="EEEE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6491" autoAdjust="0"/>
    <p:restoredTop sz="94607" autoAdjust="0"/>
  </p:normalViewPr>
  <p:slideViewPr>
    <p:cSldViewPr snapToGrid="0" showGuides="1">
      <p:cViewPr varScale="1">
        <p:scale>
          <a:sx n="62" d="100"/>
          <a:sy n="62" d="100"/>
        </p:scale>
        <p:origin x="431" y="28"/>
      </p:cViewPr>
      <p:guideLst>
        <p:guide orient="horz" pos="2351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4" Type="http://schemas.openxmlformats.org/officeDocument/2006/relationships/tableStyles" Target="tableStyles.xml"/><Relationship Id="rId13" Type="http://schemas.openxmlformats.org/officeDocument/2006/relationships/viewProps" Target="viewProps.xml"/><Relationship Id="rId12" Type="http://schemas.openxmlformats.org/officeDocument/2006/relationships/presProps" Target="presProps.xml"/><Relationship Id="rId11" Type="http://schemas.openxmlformats.org/officeDocument/2006/relationships/notesMaster" Target="notesMasters/notesMaster1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9CE6E62-0A4A-440F-A3A0-1904151E0F67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45C4DF4-6413-405D-8311-20A510DC5EFC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5C4DF4-6413-405D-8311-20A510DC5EF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pic>
        <p:nvPicPr>
          <p:cNvPr id="3" name="图片 7" descr="基金会+OH logo组合-0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73710" y="304165"/>
            <a:ext cx="3564890" cy="1234440"/>
          </a:xfrm>
          <a:prstGeom prst="rect">
            <a:avLst/>
          </a:prstGeom>
        </p:spPr>
      </p:pic>
      <p:grpSp>
        <p:nvGrpSpPr>
          <p:cNvPr id="4" name="组合 13"/>
          <p:cNvGrpSpPr/>
          <p:nvPr userDrawn="1"/>
        </p:nvGrpSpPr>
        <p:grpSpPr>
          <a:xfrm>
            <a:off x="9906635" y="6367145"/>
            <a:ext cx="2199640" cy="344805"/>
            <a:chOff x="15601" y="10027"/>
            <a:chExt cx="3464" cy="543"/>
          </a:xfrm>
        </p:grpSpPr>
        <p:sp>
          <p:nvSpPr>
            <p:cNvPr id="5" name="文本框 14"/>
            <p:cNvSpPr txBox="1"/>
            <p:nvPr userDrawn="1"/>
          </p:nvSpPr>
          <p:spPr>
            <a:xfrm>
              <a:off x="15601" y="10027"/>
              <a:ext cx="3464" cy="5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algn="l" defTabSz="914400" rtl="0" eaLnBrk="1" latinLnBrk="0" hangingPunct="1">
                <a:lnSpc>
                  <a:spcPct val="130000"/>
                </a:lnSpc>
              </a:pPr>
              <a:r>
                <a:rPr lang="zh-CN" altLang="en-US" sz="1400" kern="12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智能终端操作系统根社区</a:t>
              </a:r>
              <a:endParaRPr lang="zh-CN" altLang="en-US" sz="1400" kern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cxnSp>
          <p:nvCxnSpPr>
            <p:cNvPr id="6" name="直接连接符 15"/>
            <p:cNvCxnSpPr/>
            <p:nvPr userDrawn="1"/>
          </p:nvCxnSpPr>
          <p:spPr>
            <a:xfrm>
              <a:off x="18007" y="10528"/>
              <a:ext cx="847" cy="0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FM">
    <p:bg>
      <p:bgPr>
        <a:solidFill>
          <a:schemeClr val="bg1"/>
        </a:solidFill>
        <a:effectLst/>
      </p:bgPr>
    </p:bg>
    <p:spTree>
      <p:nvGrpSpPr>
        <p:cNvPr id="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1"/>
          <p:cNvPicPr>
            <a:picLocks noChangeAspect="1"/>
          </p:cNvPicPr>
          <p:nvPr userDrawn="1"/>
        </p:nvPicPr>
        <p:blipFill rotWithShape="1">
          <a:blip r:embed="rId2" cstate="print">
            <a:alphaModFix amt="20000"/>
          </a:blip>
          <a:srcRect b="13216"/>
          <a:stretch>
            <a:fillRect/>
          </a:stretch>
        </p:blipFill>
        <p:spPr>
          <a:xfrm>
            <a:off x="7546126" y="0"/>
            <a:ext cx="4151671" cy="5794408"/>
          </a:xfrm>
          <a:prstGeom prst="rect">
            <a:avLst/>
          </a:prstGeom>
        </p:spPr>
      </p:pic>
      <p:grpSp>
        <p:nvGrpSpPr>
          <p:cNvPr id="9" name="组合 2"/>
          <p:cNvGrpSpPr/>
          <p:nvPr userDrawn="1"/>
        </p:nvGrpSpPr>
        <p:grpSpPr>
          <a:xfrm>
            <a:off x="9763201" y="6305810"/>
            <a:ext cx="2199640" cy="344805"/>
            <a:chOff x="15601" y="10027"/>
            <a:chExt cx="3464" cy="543"/>
          </a:xfrm>
        </p:grpSpPr>
        <p:sp>
          <p:nvSpPr>
            <p:cNvPr id="10" name="文本框 3"/>
            <p:cNvSpPr txBox="1"/>
            <p:nvPr userDrawn="1"/>
          </p:nvSpPr>
          <p:spPr>
            <a:xfrm>
              <a:off x="15601" y="10027"/>
              <a:ext cx="3464" cy="5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algn="l" defTabSz="914400" rtl="0" eaLnBrk="1" latinLnBrk="0" hangingPunct="1">
                <a:lnSpc>
                  <a:spcPct val="130000"/>
                </a:lnSpc>
              </a:pPr>
              <a:r>
                <a:rPr lang="zh-CN" altLang="en-US" sz="1400" kern="1200" dirty="0">
                  <a:gradFill>
                    <a:gsLst>
                      <a:gs pos="0">
                        <a:srgbClr val="0284E2"/>
                      </a:gs>
                      <a:gs pos="100000">
                        <a:srgbClr val="00B050"/>
                      </a:gs>
                    </a:gsLst>
                    <a:lin ang="0" scaled="0"/>
                  </a:gradFill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智能终端操作系统根社区</a:t>
              </a:r>
              <a:endParaRPr lang="zh-CN" altLang="en-US" sz="1400" kern="1200" dirty="0">
                <a:gradFill>
                  <a:gsLst>
                    <a:gs pos="0">
                      <a:srgbClr val="0284E2"/>
                    </a:gs>
                    <a:gs pos="100000">
                      <a:srgbClr val="00B050"/>
                    </a:gs>
                  </a:gsLst>
                  <a:lin ang="0" scaled="0"/>
                </a:gra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cxnSp>
          <p:nvCxnSpPr>
            <p:cNvPr id="11" name="直接连接符 15"/>
            <p:cNvCxnSpPr/>
            <p:nvPr userDrawn="1"/>
          </p:nvCxnSpPr>
          <p:spPr>
            <a:xfrm>
              <a:off x="18007" y="10528"/>
              <a:ext cx="847" cy="0"/>
            </a:xfrm>
            <a:prstGeom prst="line">
              <a:avLst/>
            </a:prstGeom>
            <a:ln w="19050">
              <a:solidFill>
                <a:srgbClr val="00B0F0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  <p:pic>
        <p:nvPicPr>
          <p:cNvPr id="12" name="图片 9"/>
          <p:cNvPicPr>
            <a:picLocks noChangeAspect="1"/>
          </p:cNvPicPr>
          <p:nvPr userDrawn="1"/>
        </p:nvPicPr>
        <p:blipFill>
          <a:blip r:embed="rId3" cstate="print">
            <a:alphaModFix amt="21000"/>
          </a:blip>
          <a:srcRect/>
          <a:stretch>
            <a:fillRect/>
          </a:stretch>
        </p:blipFill>
        <p:spPr>
          <a:xfrm>
            <a:off x="0" y="3261146"/>
            <a:ext cx="2999678" cy="4133416"/>
          </a:xfrm>
          <a:prstGeom prst="rect">
            <a:avLst/>
          </a:prstGeom>
        </p:spPr>
      </p:pic>
      <p:pic>
        <p:nvPicPr>
          <p:cNvPr id="13" name="图片 4"/>
          <p:cNvPicPr>
            <a:picLocks noChangeAspect="1"/>
          </p:cNvPicPr>
          <p:nvPr userDrawn="1"/>
        </p:nvPicPr>
        <p:blipFill>
          <a:blip r:embed="rId4" cstate="print"/>
          <a:stretch>
            <a:fillRect/>
          </a:stretch>
        </p:blipFill>
        <p:spPr>
          <a:xfrm>
            <a:off x="48273" y="0"/>
            <a:ext cx="3483086" cy="1306157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showMasterSp="0">
  <p:cSld name="1_标题幻灯片">
    <p:bg>
      <p:bgPr>
        <a:solidFill>
          <a:schemeClr val="bg1">
            <a:alpha val="0"/>
          </a:schemeClr>
        </a:solidFill>
        <a:effectLst/>
      </p:bgPr>
    </p:bg>
    <p:spTree>
      <p:nvGrpSpPr>
        <p:cNvPr id="1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445008" y="6356350"/>
            <a:ext cx="2743200" cy="365125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标题和内容">
    <p:bg>
      <p:bgPr>
        <a:solidFill>
          <a:srgbClr val="08A8F6"/>
        </a:solidFill>
        <a:effectLst/>
      </p:bgPr>
    </p:bg>
    <p:spTree>
      <p:nvGrpSpPr>
        <p:cNvPr id="2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4724400" y="6356350"/>
            <a:ext cx="2743200" cy="365125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节标题">
    <p:bg>
      <p:bgPr>
        <a:solidFill>
          <a:schemeClr val="bg1"/>
        </a:solidFill>
        <a:effectLst/>
      </p:bgPr>
    </p:bg>
    <p:spTree>
      <p:nvGrpSpPr>
        <p:cNvPr id="2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组合 13"/>
          <p:cNvGrpSpPr/>
          <p:nvPr userDrawn="1"/>
        </p:nvGrpSpPr>
        <p:grpSpPr>
          <a:xfrm>
            <a:off x="9763201" y="6305810"/>
            <a:ext cx="2199640" cy="344805"/>
            <a:chOff x="15601" y="10027"/>
            <a:chExt cx="3464" cy="543"/>
          </a:xfrm>
        </p:grpSpPr>
        <p:sp>
          <p:nvSpPr>
            <p:cNvPr id="25" name="文本框 14"/>
            <p:cNvSpPr txBox="1"/>
            <p:nvPr userDrawn="1"/>
          </p:nvSpPr>
          <p:spPr>
            <a:xfrm>
              <a:off x="15601" y="10027"/>
              <a:ext cx="3464" cy="5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algn="l" defTabSz="914400" rtl="0" eaLnBrk="1" latinLnBrk="0" hangingPunct="1">
                <a:lnSpc>
                  <a:spcPct val="130000"/>
                </a:lnSpc>
              </a:pPr>
              <a:r>
                <a:rPr lang="zh-CN" altLang="en-US" sz="1400" kern="1200" dirty="0">
                  <a:gradFill>
                    <a:gsLst>
                      <a:gs pos="0">
                        <a:srgbClr val="0284E2"/>
                      </a:gs>
                      <a:gs pos="100000">
                        <a:srgbClr val="00B050"/>
                      </a:gs>
                    </a:gsLst>
                    <a:lin ang="0" scaled="0"/>
                  </a:gradFill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智能终端操作系统根社区</a:t>
              </a:r>
              <a:endParaRPr lang="zh-CN" altLang="en-US" sz="1400" kern="1200" dirty="0">
                <a:gradFill>
                  <a:gsLst>
                    <a:gs pos="0">
                      <a:srgbClr val="0284E2"/>
                    </a:gs>
                    <a:gs pos="100000">
                      <a:srgbClr val="00B050"/>
                    </a:gs>
                  </a:gsLst>
                  <a:lin ang="0" scaled="0"/>
                </a:gra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cxnSp>
          <p:nvCxnSpPr>
            <p:cNvPr id="26" name="直接连接符 15"/>
            <p:cNvCxnSpPr/>
            <p:nvPr userDrawn="1"/>
          </p:nvCxnSpPr>
          <p:spPr>
            <a:xfrm>
              <a:off x="18007" y="10528"/>
              <a:ext cx="847" cy="0"/>
            </a:xfrm>
            <a:prstGeom prst="line">
              <a:avLst/>
            </a:prstGeom>
            <a:ln w="19050">
              <a:solidFill>
                <a:srgbClr val="00B0F0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  <p:sp>
        <p:nvSpPr>
          <p:cNvPr id="27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4724400" y="6356350"/>
            <a:ext cx="2743200" cy="365125"/>
          </a:xfrm>
        </p:spPr>
        <p:txBody>
          <a:bodyPr/>
          <a:lstStyle>
            <a:lvl1pPr algn="ctr">
              <a:defRPr>
                <a:solidFill>
                  <a:schemeClr val="tx1"/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8" name="文本占位符 9"/>
          <p:cNvSpPr>
            <a:spLocks noGrp="1"/>
          </p:cNvSpPr>
          <p:nvPr>
            <p:ph type="body" sz="quarter" idx="13" hasCustomPrompt="1"/>
          </p:nvPr>
        </p:nvSpPr>
        <p:spPr>
          <a:xfrm>
            <a:off x="215067" y="171415"/>
            <a:ext cx="5966068" cy="44613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lang="zh-CN" altLang="en-US" sz="2800" b="1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1pPr>
          </a:lstStyle>
          <a:p>
            <a:pPr lvl="0"/>
            <a:r>
              <a:rPr kumimoji="1" lang="zh-CN" altLang="en-US"/>
              <a:t>单击此处编辑母版文本</a:t>
            </a:r>
            <a:endParaRPr kumimoji="1" lang="zh-CN" altLang="en-US"/>
          </a:p>
        </p:txBody>
      </p:sp>
      <p:pic>
        <p:nvPicPr>
          <p:cNvPr id="29" name="图片 1"/>
          <p:cNvPicPr>
            <a:picLocks noChangeAspect="1"/>
          </p:cNvPicPr>
          <p:nvPr userDrawn="1"/>
        </p:nvPicPr>
        <p:blipFill>
          <a:blip r:embed="rId2" cstate="print"/>
          <a:stretch>
            <a:fillRect/>
          </a:stretch>
        </p:blipFill>
        <p:spPr>
          <a:xfrm>
            <a:off x="9558425" y="0"/>
            <a:ext cx="2350420" cy="881407"/>
          </a:xfrm>
          <a:prstGeom prst="rect">
            <a:avLst/>
          </a:prstGeom>
        </p:spPr>
      </p:pic>
      <p:sp>
        <p:nvSpPr>
          <p:cNvPr id="30" name="矩形 3"/>
          <p:cNvSpPr/>
          <p:nvPr userDrawn="1"/>
        </p:nvSpPr>
        <p:spPr>
          <a:xfrm>
            <a:off x="0" y="0"/>
            <a:ext cx="12192000" cy="781177"/>
          </a:xfrm>
          <a:prstGeom prst="rect">
            <a:avLst/>
          </a:prstGeom>
          <a:solidFill>
            <a:srgbClr val="08A8F6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两栏内容">
    <p:bg>
      <p:bgPr>
        <a:solidFill>
          <a:schemeClr val="bg1"/>
        </a:solidFill>
        <a:effectLst/>
      </p:bgPr>
    </p:bg>
    <p:spTree>
      <p:nvGrpSpPr>
        <p:cNvPr id="3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pic>
        <p:nvPicPr>
          <p:cNvPr id="33" name="图片 3"/>
          <p:cNvPicPr>
            <a:picLocks noChangeAspect="1"/>
          </p:cNvPicPr>
          <p:nvPr userDrawn="1"/>
        </p:nvPicPr>
        <p:blipFill rotWithShape="1">
          <a:blip r:embed="rId2" cstate="print">
            <a:alphaModFix amt="35000"/>
            <a:biLevel thresh="25000"/>
          </a:blip>
          <a:srcRect t="32381"/>
          <a:stretch>
            <a:fillRect/>
          </a:stretch>
        </p:blipFill>
        <p:spPr>
          <a:xfrm>
            <a:off x="7482780" y="1381934"/>
            <a:ext cx="3830533" cy="4165580"/>
          </a:xfrm>
          <a:prstGeom prst="rect">
            <a:avLst/>
          </a:prstGeom>
        </p:spPr>
      </p:pic>
      <p:grpSp>
        <p:nvGrpSpPr>
          <p:cNvPr id="34" name="组合 5"/>
          <p:cNvGrpSpPr/>
          <p:nvPr userDrawn="1"/>
        </p:nvGrpSpPr>
        <p:grpSpPr>
          <a:xfrm>
            <a:off x="9763201" y="6305810"/>
            <a:ext cx="2199640" cy="344805"/>
            <a:chOff x="15601" y="10027"/>
            <a:chExt cx="3464" cy="543"/>
          </a:xfrm>
        </p:grpSpPr>
        <p:sp>
          <p:nvSpPr>
            <p:cNvPr id="35" name="文本框 10"/>
            <p:cNvSpPr txBox="1"/>
            <p:nvPr userDrawn="1"/>
          </p:nvSpPr>
          <p:spPr>
            <a:xfrm>
              <a:off x="15601" y="10027"/>
              <a:ext cx="3464" cy="5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algn="l" defTabSz="914400" rtl="0" eaLnBrk="1" latinLnBrk="0" hangingPunct="1">
                <a:lnSpc>
                  <a:spcPct val="130000"/>
                </a:lnSpc>
              </a:pPr>
              <a:r>
                <a:rPr lang="zh-CN" altLang="en-US" sz="1400" kern="1200" dirty="0">
                  <a:gradFill>
                    <a:gsLst>
                      <a:gs pos="0">
                        <a:srgbClr val="0284E2"/>
                      </a:gs>
                      <a:gs pos="100000">
                        <a:srgbClr val="00B050"/>
                      </a:gs>
                    </a:gsLst>
                    <a:lin ang="0" scaled="0"/>
                  </a:gradFill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智能终端操作系统根社区</a:t>
              </a:r>
              <a:endParaRPr lang="zh-CN" altLang="en-US" sz="1400" kern="1200" dirty="0">
                <a:gradFill>
                  <a:gsLst>
                    <a:gs pos="0">
                      <a:srgbClr val="0284E2"/>
                    </a:gs>
                    <a:gs pos="100000">
                      <a:srgbClr val="00B050"/>
                    </a:gs>
                  </a:gsLst>
                  <a:lin ang="0" scaled="0"/>
                </a:gra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cxnSp>
          <p:nvCxnSpPr>
            <p:cNvPr id="36" name="直接连接符 15"/>
            <p:cNvCxnSpPr/>
            <p:nvPr userDrawn="1"/>
          </p:nvCxnSpPr>
          <p:spPr>
            <a:xfrm>
              <a:off x="18007" y="10528"/>
              <a:ext cx="847" cy="0"/>
            </a:xfrm>
            <a:prstGeom prst="line">
              <a:avLst/>
            </a:prstGeom>
            <a:ln w="19050">
              <a:solidFill>
                <a:srgbClr val="00B0F0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  <p:pic>
        <p:nvPicPr>
          <p:cNvPr id="37" name="图片 4"/>
          <p:cNvPicPr>
            <a:picLocks noChangeAspect="1"/>
          </p:cNvPicPr>
          <p:nvPr userDrawn="1"/>
        </p:nvPicPr>
        <p:blipFill>
          <a:blip r:embed="rId3" cstate="print"/>
          <a:stretch>
            <a:fillRect/>
          </a:stretch>
        </p:blipFill>
        <p:spPr>
          <a:xfrm>
            <a:off x="104478" y="0"/>
            <a:ext cx="2350420" cy="881407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比较">
    <p:bg>
      <p:bgPr>
        <a:solidFill>
          <a:schemeClr val="bg1"/>
        </a:solidFill>
        <a:effectLst/>
      </p:bgPr>
    </p:bg>
    <p:spTree>
      <p:nvGrpSpPr>
        <p:cNvPr id="3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grpSp>
        <p:nvGrpSpPr>
          <p:cNvPr id="40" name="组合 1"/>
          <p:cNvGrpSpPr/>
          <p:nvPr userDrawn="1"/>
        </p:nvGrpSpPr>
        <p:grpSpPr>
          <a:xfrm>
            <a:off x="9763201" y="6305810"/>
            <a:ext cx="2199640" cy="344805"/>
            <a:chOff x="15601" y="10027"/>
            <a:chExt cx="3464" cy="543"/>
          </a:xfrm>
        </p:grpSpPr>
        <p:sp>
          <p:nvSpPr>
            <p:cNvPr id="41" name="文本框 2"/>
            <p:cNvSpPr txBox="1"/>
            <p:nvPr userDrawn="1"/>
          </p:nvSpPr>
          <p:spPr>
            <a:xfrm>
              <a:off x="15601" y="10027"/>
              <a:ext cx="3464" cy="5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algn="l" defTabSz="914400" rtl="0" eaLnBrk="1" latinLnBrk="0" hangingPunct="1">
                <a:lnSpc>
                  <a:spcPct val="130000"/>
                </a:lnSpc>
              </a:pPr>
              <a:r>
                <a:rPr lang="zh-CN" altLang="en-US" sz="1400" kern="1200" dirty="0">
                  <a:gradFill>
                    <a:gsLst>
                      <a:gs pos="0">
                        <a:srgbClr val="0284E2"/>
                      </a:gs>
                      <a:gs pos="100000">
                        <a:srgbClr val="00B050"/>
                      </a:gs>
                    </a:gsLst>
                    <a:lin ang="0" scaled="0"/>
                  </a:gradFill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智能终端操作系统根社区</a:t>
              </a:r>
              <a:endParaRPr lang="zh-CN" altLang="en-US" sz="1400" kern="1200" dirty="0">
                <a:gradFill>
                  <a:gsLst>
                    <a:gs pos="0">
                      <a:srgbClr val="0284E2"/>
                    </a:gs>
                    <a:gs pos="100000">
                      <a:srgbClr val="00B050"/>
                    </a:gs>
                  </a:gsLst>
                  <a:lin ang="0" scaled="0"/>
                </a:gra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cxnSp>
          <p:nvCxnSpPr>
            <p:cNvPr id="42" name="直接连接符 15"/>
            <p:cNvCxnSpPr/>
            <p:nvPr userDrawn="1"/>
          </p:nvCxnSpPr>
          <p:spPr>
            <a:xfrm>
              <a:off x="18007" y="10528"/>
              <a:ext cx="847" cy="0"/>
            </a:xfrm>
            <a:prstGeom prst="line">
              <a:avLst/>
            </a:prstGeom>
            <a:ln w="19050">
              <a:solidFill>
                <a:srgbClr val="00B0F0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  <p:sp>
        <p:nvSpPr>
          <p:cNvPr id="43" name="矩形 9"/>
          <p:cNvSpPr/>
          <p:nvPr userDrawn="1"/>
        </p:nvSpPr>
        <p:spPr>
          <a:xfrm>
            <a:off x="456565" y="1199515"/>
            <a:ext cx="1210588" cy="707886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marL="0" marR="0" lvl="0" indent="0" defTabSz="914400" rtl="0" eaLnBrk="1" fontAlgn="ctr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4000" b="1" i="0" u="none" strike="noStrike" kern="1200" cap="none" spc="0" normalizeH="0" baseline="0" noProof="0" dirty="0">
                <a:ln>
                  <a:noFill/>
                </a:ln>
                <a:solidFill>
                  <a:srgbClr val="08A8F6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目录</a:t>
            </a:r>
            <a:endParaRPr kumimoji="0" lang="zh-CN" altLang="en-US" sz="4000" b="1" i="0" u="none" strike="noStrike" kern="1200" cap="none" spc="0" normalizeH="0" baseline="0" noProof="0" dirty="0">
              <a:ln>
                <a:noFill/>
              </a:ln>
              <a:solidFill>
                <a:srgbClr val="08A8F6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44" name="文本框 10"/>
          <p:cNvSpPr txBox="1"/>
          <p:nvPr userDrawn="1"/>
        </p:nvSpPr>
        <p:spPr>
          <a:xfrm>
            <a:off x="481965" y="576640"/>
            <a:ext cx="412495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en-US" altLang="zh-CN" sz="3200" b="1" dirty="0">
                <a:solidFill>
                  <a:srgbClr val="08A8F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Source Han Sans CN Bold" panose="020B0800000000000000" charset="-122"/>
              </a:rPr>
              <a:t>CONTENTS</a:t>
            </a:r>
            <a:endParaRPr lang="en-US" altLang="zh-CN" sz="3200" b="1" dirty="0">
              <a:solidFill>
                <a:srgbClr val="08A8F6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Source Han Sans CN Bold" panose="020B0800000000000000" charset="-122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仅标题">
    <p:bg>
      <p:bgPr>
        <a:solidFill>
          <a:schemeClr val="bg1"/>
        </a:solidFill>
        <a:effectLst/>
      </p:bgPr>
    </p:bg>
    <p:spTree>
      <p:nvGrpSpPr>
        <p:cNvPr id="4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grpSp>
        <p:nvGrpSpPr>
          <p:cNvPr id="47" name="组合 5"/>
          <p:cNvGrpSpPr/>
          <p:nvPr userDrawn="1"/>
        </p:nvGrpSpPr>
        <p:grpSpPr>
          <a:xfrm>
            <a:off x="9906635" y="6367145"/>
            <a:ext cx="2199640" cy="344805"/>
            <a:chOff x="15601" y="10027"/>
            <a:chExt cx="3464" cy="543"/>
          </a:xfrm>
        </p:grpSpPr>
        <p:sp>
          <p:nvSpPr>
            <p:cNvPr id="48" name="文本框 6"/>
            <p:cNvSpPr txBox="1"/>
            <p:nvPr userDrawn="1"/>
          </p:nvSpPr>
          <p:spPr>
            <a:xfrm>
              <a:off x="15601" y="10027"/>
              <a:ext cx="3464" cy="5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algn="l" defTabSz="914400" rtl="0" eaLnBrk="1" latinLnBrk="0" hangingPunct="1">
                <a:lnSpc>
                  <a:spcPct val="130000"/>
                </a:lnSpc>
              </a:pPr>
              <a:r>
                <a:rPr lang="zh-CN" altLang="en-US" sz="1400" kern="1200" dirty="0">
                  <a:gradFill>
                    <a:gsLst>
                      <a:gs pos="0">
                        <a:srgbClr val="0284E2"/>
                      </a:gs>
                      <a:gs pos="100000">
                        <a:srgbClr val="00B050"/>
                      </a:gs>
                    </a:gsLst>
                    <a:lin ang="0" scaled="0"/>
                  </a:gradFill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智能终端操作系统根社区</a:t>
              </a:r>
              <a:endParaRPr lang="zh-CN" altLang="en-US" sz="1400" kern="1200" dirty="0">
                <a:gradFill>
                  <a:gsLst>
                    <a:gs pos="0">
                      <a:srgbClr val="0284E2"/>
                    </a:gs>
                    <a:gs pos="100000">
                      <a:srgbClr val="00B050"/>
                    </a:gs>
                  </a:gsLst>
                  <a:lin ang="0" scaled="0"/>
                </a:gra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cxnSp>
          <p:nvCxnSpPr>
            <p:cNvPr id="49" name="直接连接符 7"/>
            <p:cNvCxnSpPr/>
            <p:nvPr userDrawn="1"/>
          </p:nvCxnSpPr>
          <p:spPr>
            <a:xfrm>
              <a:off x="18007" y="10528"/>
              <a:ext cx="847" cy="0"/>
            </a:xfrm>
            <a:prstGeom prst="line">
              <a:avLst/>
            </a:prstGeom>
            <a:ln w="19050">
              <a:solidFill>
                <a:srgbClr val="00B0F0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空白">
    <p:spTree>
      <p:nvGrpSpPr>
        <p:cNvPr id="5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>
  <p:cSld name="图片与标题">
    <p:spTree>
      <p:nvGrpSpPr>
        <p:cNvPr id="5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>
  <p:cSld name="竖排标题与文本">
    <p:spTree>
      <p:nvGrpSpPr>
        <p:cNvPr id="1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内容">
    <p:spTree>
      <p:nvGrpSpPr>
        <p:cNvPr id="1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">
    <p:spTree>
      <p:nvGrpSpPr>
        <p:cNvPr id="1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4" Type="http://schemas.openxmlformats.org/officeDocument/2006/relationships/theme" Target="../theme/theme1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00A6F9"/>
            </a:gs>
            <a:gs pos="100000">
              <a:srgbClr val="81BD0A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47244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bg1"/>
                </a:solidFill>
                <a:latin typeface="Source Han Sans CN Normal" panose="020B0800000000000000" charset="-122"/>
                <a:ea typeface="Source Han Sans CN Normal" panose="020B0800000000000000" charset="-122"/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5.xml"/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5.xml"/><Relationship Id="rId3" Type="http://schemas.openxmlformats.org/officeDocument/2006/relationships/image" Target="../media/image7.png"/><Relationship Id="rId2" Type="http://schemas.microsoft.com/office/2007/relationships/media" Target="../media/media1.mp4"/><Relationship Id="rId1" Type="http://schemas.openxmlformats.org/officeDocument/2006/relationships/video" Target="../media/media1.mp4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4"/>
          <p:cNvSpPr txBox="1"/>
          <p:nvPr/>
        </p:nvSpPr>
        <p:spPr>
          <a:xfrm>
            <a:off x="3417888" y="5226665"/>
            <a:ext cx="5356225" cy="7308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fontAlgn="base"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怎样</a:t>
            </a: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都队（上海杉达学院）</a:t>
            </a:r>
            <a:endParaRPr lang="en-US" altLang="zh-CN" sz="1600" dirty="0">
              <a:latin typeface="微软雅黑" panose="020B0503020204020204" pitchFamily="34" charset="-122"/>
              <a:ea typeface="微软雅黑" panose="020B0503020204020204" pitchFamily="34" charset="-122"/>
              <a:cs typeface="Source Han Sans CN Regular" panose="020B0800000000000000" charset="-122"/>
            </a:endParaRPr>
          </a:p>
          <a:p>
            <a:pPr algn="ctr" fontAlgn="base"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  2026.10.12</a:t>
            </a:r>
            <a:endParaRPr lang="zh-CN" altLang="en-US" sz="1400" dirty="0">
              <a:latin typeface="微软雅黑" panose="020B0503020204020204" pitchFamily="34" charset="-122"/>
              <a:ea typeface="微软雅黑" panose="020B0503020204020204" pitchFamily="34" charset="-122"/>
              <a:cs typeface="Source Han Sans CN Regular" panose="020B0800000000000000" charset="-122"/>
            </a:endParaRPr>
          </a:p>
        </p:txBody>
      </p:sp>
      <p:sp>
        <p:nvSpPr>
          <p:cNvPr id="3" name="文本框 6"/>
          <p:cNvSpPr txBox="1"/>
          <p:nvPr/>
        </p:nvSpPr>
        <p:spPr>
          <a:xfrm>
            <a:off x="1908747" y="1852426"/>
            <a:ext cx="837450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en-US" altLang="zh-CN" sz="4800" b="1" dirty="0">
                <a:solidFill>
                  <a:srgbClr val="08A8F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Source Han Sans CN Bold" panose="020B0800000000000000" charset="-122"/>
              </a:rPr>
              <a:t>OH</a:t>
            </a:r>
            <a:r>
              <a:rPr lang="zh-CN" altLang="en-US" sz="4800" b="1" dirty="0">
                <a:solidFill>
                  <a:srgbClr val="08A8F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Source Han Sans CN Bold" panose="020B0800000000000000" charset="-122"/>
              </a:rPr>
              <a:t>创新大赛赛道三作品提交</a:t>
            </a:r>
            <a:endParaRPr lang="en-US" altLang="zh-CN" sz="4800" b="1" dirty="0">
              <a:solidFill>
                <a:srgbClr val="08A8F6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Source Han Sans CN Bold" panose="020B0800000000000000" charset="-122"/>
            </a:endParaRPr>
          </a:p>
        </p:txBody>
      </p:sp>
      <p:sp>
        <p:nvSpPr>
          <p:cNvPr id="4" name="文本框 10"/>
          <p:cNvSpPr txBox="1"/>
          <p:nvPr/>
        </p:nvSpPr>
        <p:spPr>
          <a:xfrm>
            <a:off x="3232175" y="2868089"/>
            <a:ext cx="572765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zh-CN" altLang="en-US" sz="2800" dirty="0">
                <a:solidFill>
                  <a:srgbClr val="08A8F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Source Han Sans CN Bold" panose="020B0800000000000000" charset="-122"/>
              </a:rPr>
              <a:t>衡练</a:t>
            </a:r>
            <a:endParaRPr lang="zh-CN" altLang="en-US" sz="2800" dirty="0">
              <a:solidFill>
                <a:srgbClr val="08A8F6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Source Han Sans CN Bold" panose="020B0800000000000000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圆角矩形 26"/>
          <p:cNvSpPr/>
          <p:nvPr/>
        </p:nvSpPr>
        <p:spPr>
          <a:xfrm>
            <a:off x="2741964" y="2138212"/>
            <a:ext cx="713740" cy="713740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b="1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01</a:t>
            </a:r>
            <a:endParaRPr lang="en-US" altLang="zh-CN" sz="2400" b="1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圆角矩形 27"/>
          <p:cNvSpPr/>
          <p:nvPr/>
        </p:nvSpPr>
        <p:spPr>
          <a:xfrm>
            <a:off x="3585244" y="3076107"/>
            <a:ext cx="6855091" cy="713740"/>
          </a:xfrm>
          <a:prstGeom prst="roundRect">
            <a:avLst/>
          </a:prstGeom>
          <a:solidFill>
            <a:schemeClr val="bg1"/>
          </a:solidFill>
          <a:ln>
            <a:solidFill>
              <a:srgbClr val="00B0F0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lIns="360000" rtlCol="0" anchor="ctr" anchorCtr="0"/>
          <a:lstStyle/>
          <a:p>
            <a:pPr marL="0" marR="0" lvl="0" indent="0" algn="l" defTabSz="914400" rtl="0" eaLnBrk="1" fontAlgn="ctr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sz="2400" b="1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Microsoft YaHei Regular" panose="020B0503020204020204" charset="-122"/>
                <a:sym typeface="+mn-ea"/>
              </a:rPr>
              <a:t>应用核心功能</a:t>
            </a:r>
            <a:endParaRPr lang="en-US" altLang="zh-CN" sz="2400" b="1" noProof="0" dirty="0">
              <a:ln>
                <a:noFill/>
              </a:ln>
              <a:solidFill>
                <a:schemeClr val="tx2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Microsoft YaHei Regular" panose="020B0503020204020204" charset="-122"/>
              <a:sym typeface="+mn-ea"/>
            </a:endParaRPr>
          </a:p>
        </p:txBody>
      </p:sp>
      <p:sp>
        <p:nvSpPr>
          <p:cNvPr id="8" name="圆角矩形 28"/>
          <p:cNvSpPr/>
          <p:nvPr/>
        </p:nvSpPr>
        <p:spPr>
          <a:xfrm>
            <a:off x="2734344" y="3063407"/>
            <a:ext cx="713740" cy="713740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b="1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02</a:t>
            </a:r>
            <a:endParaRPr lang="en-US" altLang="zh-CN" sz="2400" b="1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" name="圆角矩形 29"/>
          <p:cNvSpPr/>
          <p:nvPr/>
        </p:nvSpPr>
        <p:spPr>
          <a:xfrm>
            <a:off x="3585244" y="4001302"/>
            <a:ext cx="6855091" cy="713740"/>
          </a:xfrm>
          <a:prstGeom prst="roundRect">
            <a:avLst/>
          </a:prstGeom>
          <a:solidFill>
            <a:schemeClr val="bg1"/>
          </a:solidFill>
          <a:ln>
            <a:solidFill>
              <a:srgbClr val="00B0F0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lIns="360000" rtlCol="0" anchor="ctr" anchorCtr="0"/>
          <a:lstStyle/>
          <a:p>
            <a:pPr marL="0" marR="0" lvl="0" indent="0" algn="l" defTabSz="914400" rtl="0" eaLnBrk="1" fontAlgn="ctr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sz="2400" b="1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Microsoft YaHei Regular" panose="020B0503020204020204" charset="-122"/>
                <a:sym typeface="+mn-ea"/>
              </a:rPr>
              <a:t>创新性</a:t>
            </a:r>
            <a:endParaRPr lang="en-US" altLang="zh-CN" sz="2400" b="1" noProof="0" dirty="0">
              <a:ln>
                <a:noFill/>
              </a:ln>
              <a:solidFill>
                <a:schemeClr val="tx2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Microsoft YaHei Regular" panose="020B0503020204020204" charset="-122"/>
              <a:sym typeface="+mn-ea"/>
            </a:endParaRPr>
          </a:p>
        </p:txBody>
      </p:sp>
      <p:sp>
        <p:nvSpPr>
          <p:cNvPr id="10" name="圆角矩形 30"/>
          <p:cNvSpPr/>
          <p:nvPr/>
        </p:nvSpPr>
        <p:spPr>
          <a:xfrm>
            <a:off x="2734344" y="3988602"/>
            <a:ext cx="713740" cy="713740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b="1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03</a:t>
            </a:r>
            <a:endParaRPr lang="en-US" altLang="zh-CN" sz="2400" b="1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" name="圆角矩形 44"/>
          <p:cNvSpPr/>
          <p:nvPr/>
        </p:nvSpPr>
        <p:spPr>
          <a:xfrm>
            <a:off x="3597944" y="2138212"/>
            <a:ext cx="6855091" cy="713740"/>
          </a:xfrm>
          <a:prstGeom prst="roundRect">
            <a:avLst/>
          </a:prstGeom>
          <a:solidFill>
            <a:schemeClr val="bg1"/>
          </a:solidFill>
          <a:ln>
            <a:solidFill>
              <a:srgbClr val="00B0F0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lIns="360000" rtlCol="0" anchor="ctr" anchorCtr="0"/>
          <a:lstStyle/>
          <a:p>
            <a:pPr marL="0" marR="0" lvl="0" indent="0" algn="l" defTabSz="914400" rtl="0" eaLnBrk="1" fontAlgn="ctr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sz="2400" b="1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Microsoft YaHei Regular" panose="020B0503020204020204" charset="-122"/>
                <a:sym typeface="+mn-ea"/>
              </a:rPr>
              <a:t>创作简介</a:t>
            </a:r>
            <a:endParaRPr lang="en-US" altLang="zh-CN" sz="2400" b="1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Microsoft YaHei Regular" panose="020B0503020204020204" charset="-122"/>
              <a:sym typeface="+mn-ea"/>
            </a:endParaRPr>
          </a:p>
        </p:txBody>
      </p:sp>
      <p:sp>
        <p:nvSpPr>
          <p:cNvPr id="12" name="灯片编号占位符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13" name="圆角矩形 29"/>
          <p:cNvSpPr/>
          <p:nvPr/>
        </p:nvSpPr>
        <p:spPr>
          <a:xfrm>
            <a:off x="3597944" y="4913797"/>
            <a:ext cx="6855091" cy="713740"/>
          </a:xfrm>
          <a:prstGeom prst="roundRect">
            <a:avLst/>
          </a:prstGeom>
          <a:solidFill>
            <a:schemeClr val="bg1"/>
          </a:solidFill>
          <a:ln>
            <a:solidFill>
              <a:srgbClr val="00B0F0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lIns="360000" rtlCol="0" anchor="ctr" anchorCtr="0"/>
          <a:lstStyle/>
          <a:p>
            <a:pPr marL="0" marR="0" lvl="0" indent="0" algn="l" defTabSz="914400" rtl="0" eaLnBrk="1" fontAlgn="ctr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sz="2400" b="1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Microsoft YaHei Regular" panose="020B0503020204020204" charset="-122"/>
                <a:sym typeface="+mn-ea"/>
              </a:rPr>
              <a:t>商业价值</a:t>
            </a:r>
            <a:endParaRPr lang="en-US" altLang="zh-CN" sz="2400" b="1" noProof="0" dirty="0">
              <a:ln>
                <a:noFill/>
              </a:ln>
              <a:solidFill>
                <a:schemeClr val="tx2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Microsoft YaHei Regular" panose="020B0503020204020204" charset="-122"/>
              <a:sym typeface="+mn-ea"/>
            </a:endParaRPr>
          </a:p>
        </p:txBody>
      </p:sp>
      <p:sp>
        <p:nvSpPr>
          <p:cNvPr id="14" name="圆角矩形 30"/>
          <p:cNvSpPr/>
          <p:nvPr/>
        </p:nvSpPr>
        <p:spPr>
          <a:xfrm>
            <a:off x="2747044" y="4901097"/>
            <a:ext cx="713740" cy="713740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b="1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04</a:t>
            </a:r>
            <a:endParaRPr lang="en-US" altLang="zh-CN" sz="2400" b="1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灯片编号占位符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>
                <a:latin typeface="微软雅黑" panose="020B0503020204020204" pitchFamily="34" charset="-122"/>
                <a:ea typeface="微软雅黑" panose="020B0503020204020204" pitchFamily="34" charset="-122"/>
              </a:rPr>
            </a:fld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7" name="文本占位符 2"/>
          <p:cNvSpPr>
            <a:spLocks noGrp="1"/>
          </p:cNvSpPr>
          <p:nvPr>
            <p:ph type="body" sz="quarter" idx="13"/>
          </p:nvPr>
        </p:nvSpPr>
        <p:spPr>
          <a:xfrm>
            <a:off x="195815" y="200290"/>
            <a:ext cx="5966068" cy="446134"/>
          </a:xfrm>
        </p:spPr>
        <p:txBody>
          <a:bodyPr anchor="ctr"/>
          <a:lstStyle/>
          <a:p>
            <a:r>
              <a:rPr kumimoji="1" lang="zh-CN" altLang="en-US" dirty="0"/>
              <a:t>创作简介</a:t>
            </a:r>
            <a:endParaRPr kumimoji="1" lang="zh-CN" altLang="en-US" sz="28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8" name="文本框 4"/>
          <p:cNvSpPr txBox="1"/>
          <p:nvPr/>
        </p:nvSpPr>
        <p:spPr>
          <a:xfrm>
            <a:off x="681355" y="2986405"/>
            <a:ext cx="6500495" cy="93662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fontAlgn="base"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为什么做这款</a:t>
            </a:r>
            <a:r>
              <a:rPr lang="en-US" altLang="zh-CN" sz="1600" b="1" dirty="0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APP</a:t>
            </a:r>
            <a:r>
              <a: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（</a:t>
            </a:r>
            <a:r>
              <a:rPr lang="en-US" altLang="zh-CN" sz="1600" b="1" dirty="0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100</a:t>
            </a:r>
            <a:r>
              <a: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字左右）</a:t>
            </a:r>
            <a:endParaRPr lang="zh-CN" altLang="en-US" sz="1600" b="1" dirty="0">
              <a:latin typeface="微软雅黑" panose="020B0503020204020204" pitchFamily="34" charset="-122"/>
              <a:ea typeface="微软雅黑" panose="020B0503020204020204" pitchFamily="34" charset="-122"/>
              <a:cs typeface="Source Han Sans CN Regular" panose="020B0800000000000000" charset="-122"/>
            </a:endParaRPr>
          </a:p>
          <a:p>
            <a:pPr fontAlgn="base"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现代人工作学习与健康难以平衡，而主流健身软件强制联网、功能臃肿、隐私堪忧。我们打造“衡练”APP：一款纯本地运行的运动健康助手，录入数据后由端侧规则引擎即时完成评估、计划与复盘，数据全程不出端，让科学锻炼即开即用、安心可用。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  <a:cs typeface="Source Han Sans CN Regular" panose="020B0800000000000000" charset="-122"/>
            </a:endParaRPr>
          </a:p>
        </p:txBody>
      </p:sp>
      <p:sp>
        <p:nvSpPr>
          <p:cNvPr id="19" name="文本框 4"/>
          <p:cNvSpPr txBox="1"/>
          <p:nvPr/>
        </p:nvSpPr>
        <p:spPr>
          <a:xfrm>
            <a:off x="742950" y="4950460"/>
            <a:ext cx="6724015" cy="190754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fontAlgn="base"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应用一句话亮点</a:t>
            </a:r>
            <a:endParaRPr lang="zh-CN" altLang="en-US" sz="1600" b="1" dirty="0">
              <a:latin typeface="微软雅黑" panose="020B0503020204020204" pitchFamily="34" charset="-122"/>
              <a:ea typeface="微软雅黑" panose="020B0503020204020204" pitchFamily="34" charset="-122"/>
              <a:cs typeface="Source Han Sans CN Regular" panose="020B0800000000000000" charset="-122"/>
            </a:endParaRPr>
          </a:p>
          <a:p>
            <a:pPr fontAlgn="base"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结合鸿蒙特性版：基于OpenHarmony原生ArkTS/ArkUI开发的端侧运动健康助手，手机、平板双端适配，数据不出端、全程不联网。</a:t>
            </a:r>
            <a:endParaRPr lang="en-US" altLang="zh-CN" sz="1600" dirty="0">
              <a:latin typeface="微软雅黑" panose="020B0503020204020204" pitchFamily="34" charset="-122"/>
              <a:ea typeface="微软雅黑" panose="020B0503020204020204" pitchFamily="34" charset="-122"/>
              <a:cs typeface="Source Han Sans CN Regular" panose="020B0800000000000000" charset="-122"/>
            </a:endParaRPr>
          </a:p>
          <a:p>
            <a:pPr fontAlgn="base"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强调功能版：“衡”量状态，“练”就健康——30秒录入，即刻获得训练评估、饮食方案与下周计划的专属私人教练。</a:t>
            </a:r>
            <a:endParaRPr lang="en-US" altLang="zh-CN" sz="1600" dirty="0">
              <a:latin typeface="微软雅黑" panose="020B0503020204020204" pitchFamily="34" charset="-122"/>
              <a:ea typeface="微软雅黑" panose="020B0503020204020204" pitchFamily="34" charset="-122"/>
              <a:cs typeface="Source Han Sans CN Regular" panose="020B0800000000000000" charset="-122"/>
            </a:endParaRPr>
          </a:p>
          <a:p>
            <a:pPr fontAlgn="base"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  <a:cs typeface="Source Han Sans CN Regular" panose="020B0800000000000000" charset="-122"/>
            </a:endParaRPr>
          </a:p>
        </p:txBody>
      </p:sp>
      <p:sp>
        <p:nvSpPr>
          <p:cNvPr id="20" name="文本框 4"/>
          <p:cNvSpPr txBox="1"/>
          <p:nvPr/>
        </p:nvSpPr>
        <p:spPr>
          <a:xfrm>
            <a:off x="681316" y="950500"/>
            <a:ext cx="8516472" cy="20110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团队简介：</a:t>
            </a:r>
            <a:endParaRPr lang="en-US" altLang="zh-CN" sz="1600" b="1" dirty="0">
              <a:latin typeface="微软雅黑" panose="020B0503020204020204" pitchFamily="34" charset="-122"/>
              <a:ea typeface="微软雅黑" panose="020B0503020204020204" pitchFamily="34" charset="-122"/>
              <a:cs typeface="Source Han Sans CN Regular" panose="020B0800000000000000" charset="-122"/>
            </a:endParaRPr>
          </a:p>
          <a:p>
            <a:pPr fontAlgn="base"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队长：刘俊材</a:t>
            </a:r>
            <a:endParaRPr lang="en-US" altLang="zh-CN" sz="1600" dirty="0">
              <a:latin typeface="微软雅黑" panose="020B0503020204020204" pitchFamily="34" charset="-122"/>
              <a:ea typeface="微软雅黑" panose="020B0503020204020204" pitchFamily="34" charset="-122"/>
              <a:cs typeface="Source Han Sans CN Regular" panose="020B0800000000000000" charset="-122"/>
            </a:endParaRPr>
          </a:p>
          <a:p>
            <a:pPr fontAlgn="base"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团队成员：刘洁</a:t>
            </a:r>
            <a:endParaRPr lang="en-US" altLang="zh-CN" sz="1600" dirty="0">
              <a:latin typeface="微软雅黑" panose="020B0503020204020204" pitchFamily="34" charset="-122"/>
              <a:ea typeface="微软雅黑" panose="020B0503020204020204" pitchFamily="34" charset="-122"/>
              <a:cs typeface="Source Han Sans CN Regular" panose="020B0800000000000000" charset="-122"/>
            </a:endParaRPr>
          </a:p>
          <a:p>
            <a:pPr fontAlgn="base"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学校</a:t>
            </a:r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&amp;</a:t>
            </a: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专业：上海杉达学院</a:t>
            </a:r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 </a:t>
            </a: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软件工程</a:t>
            </a:r>
            <a:endParaRPr lang="en-US" altLang="zh-CN" sz="1600" dirty="0">
              <a:latin typeface="微软雅黑" panose="020B0503020204020204" pitchFamily="34" charset="-122"/>
              <a:ea typeface="微软雅黑" panose="020B0503020204020204" pitchFamily="34" charset="-122"/>
              <a:cs typeface="Source Han Sans CN Regular" panose="020B0800000000000000" charset="-122"/>
            </a:endParaRPr>
          </a:p>
          <a:p>
            <a:pPr fontAlgn="base"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指导老师：张青</a:t>
            </a:r>
            <a:endParaRPr lang="en-US" altLang="zh-CN" sz="1600" dirty="0">
              <a:latin typeface="微软雅黑" panose="020B0503020204020204" pitchFamily="34" charset="-122"/>
              <a:ea typeface="微软雅黑" panose="020B0503020204020204" pitchFamily="34" charset="-122"/>
              <a:cs typeface="Source Han Sans CN Regular" panose="020B0800000000000000" charset="-122"/>
            </a:endParaRPr>
          </a:p>
          <a:p>
            <a:pPr fontAlgn="base"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联络人手机号</a:t>
            </a:r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&amp;</a:t>
            </a: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微信号：</a:t>
            </a:r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15316589290</a:t>
            </a:r>
            <a:endParaRPr lang="en-US" altLang="zh-CN" sz="1600" dirty="0">
              <a:latin typeface="微软雅黑" panose="020B0503020204020204" pitchFamily="34" charset="-122"/>
              <a:ea typeface="微软雅黑" panose="020B0503020204020204" pitchFamily="34" charset="-122"/>
              <a:cs typeface="Source Han Sans CN Regular" panose="020B0800000000000000" charset="-122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灯片编号占位符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>
                <a:latin typeface="微软雅黑" panose="020B0503020204020204" pitchFamily="34" charset="-122"/>
                <a:ea typeface="微软雅黑" panose="020B0503020204020204" pitchFamily="34" charset="-122"/>
              </a:rPr>
            </a:fld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" name="文本占位符 2"/>
          <p:cNvSpPr>
            <a:spLocks noGrp="1"/>
          </p:cNvSpPr>
          <p:nvPr>
            <p:ph type="body" sz="quarter" idx="13"/>
          </p:nvPr>
        </p:nvSpPr>
        <p:spPr>
          <a:xfrm>
            <a:off x="195815" y="200290"/>
            <a:ext cx="5966068" cy="446134"/>
          </a:xfrm>
        </p:spPr>
        <p:txBody>
          <a:bodyPr anchor="ctr"/>
          <a:lstStyle/>
          <a:p>
            <a:r>
              <a:rPr kumimoji="1" lang="zh-CN" altLang="en-US" sz="28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应用核心功能</a:t>
            </a:r>
            <a:endParaRPr kumimoji="1" lang="zh-CN" altLang="en-US" sz="28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" name="文本框 3"/>
          <p:cNvSpPr txBox="1"/>
          <p:nvPr/>
        </p:nvSpPr>
        <p:spPr>
          <a:xfrm>
            <a:off x="600634" y="1109012"/>
            <a:ext cx="9010957" cy="3812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数据全程不出端的五大差异化能力（每点一句话）</a:t>
            </a:r>
            <a:endParaRPr lang="en-US" altLang="zh-CN" sz="1600" dirty="0">
              <a:latin typeface="微软雅黑" panose="020B0503020204020204" pitchFamily="34" charset="-122"/>
              <a:ea typeface="微软雅黑" panose="020B0503020204020204" pitchFamily="34" charset="-122"/>
              <a:cs typeface="Source Han Sans CN Regular" panose="020B0800000000000000" charset="-122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548640" y="1600200"/>
            <a:ext cx="5486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700" b="1">
                <a:solidFill>
                  <a:srgbClr val="1A1A2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① 全程不联网：</a:t>
            </a:r>
            <a:r>
              <a:rPr sz="1500" b="0">
                <a:solidFill>
                  <a:srgbClr val="4444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数据只存本机，飞行模式照常记录分析，隐私零泄露</a:t>
            </a:r>
            <a:endParaRPr sz="1500" b="0">
              <a:solidFill>
                <a:srgbClr val="444455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pPr>
              <a:spcAft>
                <a:spcPts val="1600"/>
              </a:spcAft>
            </a:pPr>
            <a:r>
              <a:rPr sz="1700" b="1">
                <a:solidFill>
                  <a:srgbClr val="1A1A2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② 录入即分析：</a:t>
            </a:r>
            <a:r>
              <a:rPr sz="1500" b="0">
                <a:solidFill>
                  <a:srgbClr val="4444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端侧规则引擎30秒出报告，评估、恢复、饮食一次给全</a:t>
            </a:r>
            <a:endParaRPr sz="1500" b="0">
              <a:solidFill>
                <a:srgbClr val="444455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pPr>
              <a:spcAft>
                <a:spcPts val="1600"/>
              </a:spcAft>
            </a:pPr>
            <a:r>
              <a:rPr sz="1700" b="1">
                <a:solidFill>
                  <a:srgbClr val="1A1A2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③ 201个结构化动作库：</a:t>
            </a:r>
            <a:r>
              <a:rPr sz="1500" b="0">
                <a:solidFill>
                  <a:srgbClr val="4444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器械×部位×难度筛选，配3D解剖示例与常见错误</a:t>
            </a:r>
            <a:endParaRPr sz="1500" b="0">
              <a:solidFill>
                <a:srgbClr val="444455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pPr>
              <a:spcAft>
                <a:spcPts val="1600"/>
              </a:spcAft>
            </a:pPr>
            <a:r>
              <a:rPr sz="1700" b="1">
                <a:solidFill>
                  <a:srgbClr val="1A1A2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④ 疲劳指数自动排课：</a:t>
            </a:r>
            <a:r>
              <a:rPr sz="1500" b="0">
                <a:solidFill>
                  <a:srgbClr val="4444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6周波浪渐进＋末周减载，高疲劳自动加休息日</a:t>
            </a:r>
            <a:endParaRPr sz="1500" b="0">
              <a:solidFill>
                <a:srgbClr val="444455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pPr>
              <a:spcAft>
                <a:spcPts val="1600"/>
              </a:spcAft>
            </a:pPr>
            <a:r>
              <a:rPr sz="1700" b="1">
                <a:solidFill>
                  <a:srgbClr val="1A1A2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⑤ What-if情景模拟：</a:t>
            </a:r>
            <a:r>
              <a:rPr sz="1500" b="0">
                <a:solidFill>
                  <a:srgbClr val="4444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拖滑块改热量与训练次数，4~8周体重趋势即时演算</a:t>
            </a:r>
            <a:endParaRPr sz="1500" b="0">
              <a:solidFill>
                <a:srgbClr val="444455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pic>
        <p:nvPicPr>
          <p:cNvPr id="26" name="Picture 25" descr="s1_hom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72200" y="1874519"/>
            <a:ext cx="1821927" cy="3931920"/>
          </a:xfrm>
          <a:prstGeom prst="rect">
            <a:avLst/>
          </a:prstGeom>
        </p:spPr>
      </p:pic>
      <p:pic>
        <p:nvPicPr>
          <p:cNvPr id="27" name="Picture 26" descr="s4_repo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95294" y="1874519"/>
            <a:ext cx="1815887" cy="3931920"/>
          </a:xfrm>
          <a:prstGeom prst="rect">
            <a:avLst/>
          </a:prstGeom>
        </p:spPr>
      </p:pic>
      <p:pic>
        <p:nvPicPr>
          <p:cNvPr id="28" name="Picture 27" descr="s6_libra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18388" y="1874519"/>
            <a:ext cx="1845441" cy="39319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灯片编号占位符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7" name="文本占位符 2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zh-CN" altLang="en-US" dirty="0"/>
              <a:t>创新性</a:t>
            </a:r>
            <a:endParaRPr lang="zh-CN" altLang="en-US" dirty="0"/>
          </a:p>
        </p:txBody>
      </p:sp>
      <p:sp>
        <p:nvSpPr>
          <p:cNvPr id="28" name="文本框 3"/>
          <p:cNvSpPr txBox="1"/>
          <p:nvPr/>
        </p:nvSpPr>
        <p:spPr>
          <a:xfrm>
            <a:off x="600710" y="1108710"/>
            <a:ext cx="8096250" cy="26511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体验的创新与提升（每点</a:t>
            </a:r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50</a:t>
            </a: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字左右）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  <a:cs typeface="Source Han Sans CN Regular" panose="020B0800000000000000" charset="-122"/>
            </a:endParaRPr>
          </a:p>
          <a:p>
            <a:pPr fontAlgn="base"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1. 可解释的端侧“私人教练”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  <a:cs typeface="Source Han Sans CN Regular" panose="020B0800000000000000" charset="-122"/>
            </a:endParaRPr>
          </a:p>
          <a:p>
            <a:pPr fontAlgn="base"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本地规则引擎即时输出评估与建议，参数公开可调、结论有据可查，告别黑箱推荐，科学“衡量”每一次训练。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  <a:cs typeface="Source Han Sans CN Regular" panose="020B0800000000000000" charset="-122"/>
            </a:endParaRPr>
          </a:p>
          <a:p>
            <a:pPr fontAlgn="base"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endParaRPr lang="en-US" altLang="zh-CN" sz="1600" dirty="0">
              <a:latin typeface="微软雅黑" panose="020B0503020204020204" pitchFamily="34" charset="-122"/>
              <a:ea typeface="微软雅黑" panose="020B0503020204020204" pitchFamily="34" charset="-122"/>
              <a:cs typeface="Source Han Sans CN Regular" panose="020B0800000000000000" charset="-122"/>
            </a:endParaRPr>
          </a:p>
          <a:p>
            <a:pPr fontAlgn="base"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2. What-if 情景模拟决策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  <a:cs typeface="Source Han Sans CN Regular" panose="020B0800000000000000" charset="-122"/>
            </a:endParaRPr>
          </a:p>
          <a:p>
            <a:pPr fontAlgn="base"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拖动滑块调整热量与训练次数，4~8周体重趋势即时演算，目标先看见再执行，让决策从凭感觉变成看得见。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  <a:cs typeface="Source Han Sans CN Regular" panose="020B0800000000000000" charset="-122"/>
            </a:endParaRPr>
          </a:p>
        </p:txBody>
      </p:sp>
      <p:sp>
        <p:nvSpPr>
          <p:cNvPr id="29" name="文本框 4"/>
          <p:cNvSpPr txBox="1"/>
          <p:nvPr/>
        </p:nvSpPr>
        <p:spPr>
          <a:xfrm>
            <a:off x="600710" y="3923665"/>
            <a:ext cx="8702040" cy="26511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接入的鸿蒙特性（每点</a:t>
            </a:r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50</a:t>
            </a: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字左右）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  <a:cs typeface="Source Han Sans CN Regular" panose="020B0800000000000000" charset="-122"/>
            </a:endParaRPr>
          </a:p>
          <a:p>
            <a:pPr fontAlgn="base"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1. 原生ArkTS/ArkUI全端适配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  <a:cs typeface="Source Han Sans CN Regular" panose="020B0800000000000000" charset="-122"/>
            </a:endParaRPr>
          </a:p>
          <a:p>
            <a:pPr fontAlgn="base"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基于OpenHarmony Stage模型原生开发，一次开发适配手机与平板，深浅色双主题随系统自动切换，纯净无广告。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  <a:cs typeface="Source Han Sans CN Regular" panose="020B0800000000000000" charset="-122"/>
            </a:endParaRPr>
          </a:p>
          <a:p>
            <a:pPr fontAlgn="base"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endParaRPr lang="en-US" altLang="zh-CN" sz="1600" dirty="0">
              <a:latin typeface="微软雅黑" panose="020B0503020204020204" pitchFamily="34" charset="-122"/>
              <a:ea typeface="微软雅黑" panose="020B0503020204020204" pitchFamily="34" charset="-122"/>
              <a:cs typeface="Source Han Sans CN Regular" panose="020B0800000000000000" charset="-122"/>
            </a:endParaRPr>
          </a:p>
          <a:p>
            <a:pPr fontAlgn="base"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2. 端侧持久化与本地备份迁移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  <a:cs typeface="Source Han Sans CN Regular" panose="020B0800000000000000" charset="-122"/>
            </a:endParaRPr>
          </a:p>
          <a:p>
            <a:pPr fontAlgn="base"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preferences本地存储＋沙箱备份导出，数据全程不出端、零网络请求，换机经系统文件管理器迁移，隐私安全可验证。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  <a:cs typeface="Source Han Sans CN Regular" panose="020B0800000000000000" charset="-122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灯片编号占位符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32" name="文本占位符 2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zh-CN" altLang="en-US" dirty="0"/>
              <a:t>商业价值</a:t>
            </a:r>
            <a:endParaRPr lang="zh-CN" altLang="en-US" dirty="0"/>
          </a:p>
        </p:txBody>
      </p:sp>
      <p:sp>
        <p:nvSpPr>
          <p:cNvPr id="33" name="文本框 3"/>
          <p:cNvSpPr txBox="1"/>
          <p:nvPr/>
        </p:nvSpPr>
        <p:spPr>
          <a:xfrm>
            <a:off x="600710" y="1108710"/>
            <a:ext cx="7005955" cy="42506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用户范围（约85字）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  <a:cs typeface="Source Han Sans CN Regular" panose="020B0800000000000000" charset="-122"/>
            </a:endParaRPr>
          </a:p>
          <a:p>
            <a:pPr fontAlgn="base"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核心用户：注重隐私的健身爱好者、常在地下室/户外等弱网环境锻炼的人群、需要科学指导的健身新手。凭借“不联网、无广告、即开即用”的口碑，优先吸引对臃肿App厌倦的极简主义与硬核健身人群。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  <a:cs typeface="Source Han Sans CN Regular" panose="020B0800000000000000" charset="-122"/>
            </a:endParaRPr>
          </a:p>
          <a:p>
            <a:pPr fontAlgn="base"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 商业潜力（盈利模式与市场前景）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  <a:cs typeface="Source Han Sans CN Regular" panose="020B0800000000000000" charset="-122"/>
            </a:endParaRPr>
          </a:p>
          <a:p>
            <a:pPr fontAlgn="base"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endParaRPr lang="en-US" altLang="zh-CN" sz="1600" dirty="0">
              <a:latin typeface="微软雅黑" panose="020B0503020204020204" pitchFamily="34" charset="-122"/>
              <a:ea typeface="微软雅黑" panose="020B0503020204020204" pitchFamily="34" charset="-122"/>
              <a:cs typeface="Source Han Sans CN Regular" panose="020B0800000000000000" charset="-122"/>
            </a:endParaRPr>
          </a:p>
          <a:p>
            <a:pPr fontAlgn="base"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1. 基础免费＋高级买断：记录、评估、排课免费；进阶计划包与高级数据分析模块一次性买断。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  <a:cs typeface="Source Han Sans CN Regular" panose="020B0800000000000000" charset="-122"/>
            </a:endParaRPr>
          </a:p>
          <a:p>
            <a:pPr fontAlgn="base"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2. 企业私有化部署：为健身房、私教工作室提供定制离线终端（预装平板），数据留在店内内网，按点位收授权费。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  <a:cs typeface="Source Han Sans CN Regular" panose="020B0800000000000000" charset="-122"/>
            </a:endParaRPr>
          </a:p>
          <a:p>
            <a:pPr fontAlgn="base"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3. 数字内容增值：销售专业教练的离线训练课程包（动作精讲/计划编排），纯本地交付，零服务器成本。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  <a:cs typeface="Source Han Sans CN Regular" panose="020B0800000000000000" charset="-122"/>
            </a:endParaRPr>
          </a:p>
          <a:p>
            <a:pPr fontAlgn="base"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4. 边际成本趋零：无云端服务器与运维投入，用户增长不增加成本，口碑驱动自然获客。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  <a:cs typeface="Source Han Sans CN Regular" panose="020B0800000000000000" charset="-122"/>
            </a:endParaRPr>
          </a:p>
          <a:p>
            <a:pPr fontAlgn="base"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  <a:cs typeface="Source Han Sans CN Regular" panose="020B0800000000000000" charset="-122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灯片编号占位符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36" name="文本占位符 2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zh-CN" dirty="0"/>
              <a:t>Demo</a:t>
            </a:r>
            <a:endParaRPr lang="zh-CN" altLang="en-US" dirty="0"/>
          </a:p>
        </p:txBody>
      </p:sp>
      <p:sp>
        <p:nvSpPr>
          <p:cNvPr id="37" name="文本框 3"/>
          <p:cNvSpPr txBox="1"/>
          <p:nvPr/>
        </p:nvSpPr>
        <p:spPr>
          <a:xfrm>
            <a:off x="600634" y="1109012"/>
            <a:ext cx="3836895" cy="3812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1分43秒完整演示：录入即分析 → 自动排课 → 动作库 → 记一餐 → 情景模拟（双击播放）</a:t>
            </a:r>
            <a:endParaRPr lang="en-US" altLang="zh-CN" sz="1600" dirty="0">
              <a:latin typeface="微软雅黑" panose="020B0503020204020204" pitchFamily="34" charset="-122"/>
              <a:ea typeface="微软雅黑" panose="020B0503020204020204" pitchFamily="34" charset="-122"/>
              <a:cs typeface="Source Han Sans CN Regular" panose="020B0800000000000000" charset="-122"/>
            </a:endParaRPr>
          </a:p>
        </p:txBody>
      </p:sp>
      <p:pic>
        <p:nvPicPr>
          <p:cNvPr id="38" name="衡练_应用介绍视频_720x1280.mp4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4835842" y="1828800"/>
            <a:ext cx="2520315" cy="448056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8"/>
                </p:tgtEl>
              </p:cMediaNode>
            </p:video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A8F6"/>
        </a:solidFill>
        <a:effectLst/>
      </p:bgPr>
    </p:bg>
    <p:spTree>
      <p:nvGrpSpPr>
        <p:cNvPr id="3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文本框 8"/>
          <p:cNvSpPr txBox="1"/>
          <p:nvPr/>
        </p:nvSpPr>
        <p:spPr>
          <a:xfrm>
            <a:off x="3557237" y="1942121"/>
            <a:ext cx="5077527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6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HarmonyOS Sans" panose="00000800000000000000" charset="0"/>
              </a:rPr>
              <a:t>谢  谢</a:t>
            </a:r>
            <a:endParaRPr kumimoji="0" lang="en-US" altLang="zh-CN" sz="66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HarmonyOS Sans" panose="00000800000000000000" charset="0"/>
            </a:endParaRPr>
          </a:p>
        </p:txBody>
      </p:sp>
      <p:sp>
        <p:nvSpPr>
          <p:cNvPr id="40" name="灯片编号占位符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自定义设计方案">
  <a:themeElements>
    <a:clrScheme name="WPS">
      <a:dk1>
        <a:sysClr val="windowText" lastClr="000000"/>
      </a:dk1>
      <a:lt1>
        <a:sysClr val="window" lastClr="FFFFFF"/>
      </a:lt1>
      <a:dk2>
        <a:srgbClr val="0F1423"/>
      </a:dk2>
      <a:lt2>
        <a:srgbClr val="FFFFFF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宋体"/>
        <a:cs typeface=""/>
      </a:majorFont>
      <a:minorFont>
        <a:latin typeface="Calibri"/>
        <a:ea typeface="宋体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1275</Words>
  <Application>WPS 演示</Application>
  <PresentationFormat/>
  <Paragraphs>98</Paragraphs>
  <Slides>8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20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8</vt:i4>
      </vt:variant>
    </vt:vector>
  </HeadingPairs>
  <TitlesOfParts>
    <vt:vector size="29" baseType="lpstr">
      <vt:lpstr>Arial</vt:lpstr>
      <vt:lpstr>宋体</vt:lpstr>
      <vt:lpstr>Wingdings</vt:lpstr>
      <vt:lpstr>Source Han Sans CN Normal</vt:lpstr>
      <vt:lpstr>微软雅黑</vt:lpstr>
      <vt:lpstr>Source Han Sans CN Bold</vt:lpstr>
      <vt:lpstr>Source Han Sans CN Regular</vt:lpstr>
      <vt:lpstr>Microsoft YaHei Regular</vt:lpstr>
      <vt:lpstr>HarmonyOS Sans</vt:lpstr>
      <vt:lpstr>Segoe Print</vt:lpstr>
      <vt:lpstr>Arial Unicode MS</vt:lpstr>
      <vt:lpstr>等线</vt:lpstr>
      <vt:lpstr>Calibri</vt:lpstr>
      <vt:lpstr>Microsoft YaHei Regular</vt:lpstr>
      <vt:lpstr>Source Han Sans CN Bold</vt:lpstr>
      <vt:lpstr>Source Han Sans CN Normal</vt:lpstr>
      <vt:lpstr>Source Han Sans CN Regular</vt:lpstr>
      <vt:lpstr>Saturday Sans Regular</vt:lpstr>
      <vt:lpstr>Wonder Sans Bold</vt:lpstr>
      <vt:lpstr>Oxford Regular</vt:lpstr>
      <vt:lpstr>1_自定义设计方案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刘俊材</cp:lastModifiedBy>
  <cp:revision>3</cp:revision>
  <dcterms:created xsi:type="dcterms:W3CDTF">2026-10-12T11:22:00Z</dcterms:created>
  <dcterms:modified xsi:type="dcterms:W3CDTF">2026-10-12T12:00:02Z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2052-12.1.0.28505</vt:lpwstr>
  </property>
  <property fmtid="{D5CDD505-2E9C-101B-9397-08002B2CF9AE}" pid="3" name="ICV">
    <vt:lpwstr>D531F2DCCB80438198A166CCA286B4D6_12</vt:lpwstr>
  </property>
</Properties>
</file>