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8A8F6"/>
    <a:srgbClr val="0F7FF6"/>
    <a:srgbClr val="7BBC49"/>
    <a:srgbClr val="77BB69"/>
    <a:srgbClr val="329AD7"/>
    <a:srgbClr val="F7F9FC"/>
    <a:srgbClr val="9DC0E3"/>
    <a:srgbClr val="DFEAF6"/>
    <a:srgbClr val="E1E0E0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491" autoAdjust="0"/>
    <p:restoredTop sz="94607" autoAdjust="0"/>
  </p:normalViewPr>
  <p:slideViewPr>
    <p:cSldViewPr snapToGrid="0" showGuides="1">
      <p:cViewPr varScale="1">
        <p:scale>
          <a:sx n="62" d="100"/>
          <a:sy n="62" d="100"/>
        </p:scale>
        <p:origin x="431" y="28"/>
      </p:cViewPr>
      <p:guideLst>
        <p:guide orient="horz" pos="235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E6E62-0A4A-440F-A3A0-1904151E0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C4DF4-6413-405D-8311-20A510DC5E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DF4-6413-405D-8311-20A510DC5E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7" descr="基金会+OH logo组合-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3710" y="304165"/>
            <a:ext cx="3564890" cy="1234440"/>
          </a:xfrm>
          <a:prstGeom prst="rect">
            <a:avLst/>
          </a:prstGeom>
        </p:spPr>
      </p:pic>
      <p:grpSp>
        <p:nvGrpSpPr>
          <p:cNvPr id="4" name="组合 13"/>
          <p:cNvGrpSpPr/>
          <p:nvPr userDrawn="1"/>
        </p:nvGrpSpPr>
        <p:grpSpPr>
          <a:xfrm>
            <a:off x="9906635" y="6367145"/>
            <a:ext cx="2199640" cy="344805"/>
            <a:chOff x="15601" y="10027"/>
            <a:chExt cx="3464" cy="543"/>
          </a:xfrm>
        </p:grpSpPr>
        <p:sp>
          <p:nvSpPr>
            <p:cNvPr id="5" name="文本框 14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 lang="zh-CN" altLang="en-US" sz="1400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6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FM">
    <p:bg>
      <p:bgPr>
        <a:solidFill>
          <a:schemeClr val="bg1"/>
        </a:solidFill>
        <a:effectLst/>
      </p:bgPr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/>
          <p:cNvPicPr>
            <a:picLocks noChangeAspect="1"/>
          </p:cNvPicPr>
          <p:nvPr userDrawn="1"/>
        </p:nvPicPr>
        <p:blipFill rotWithShape="1">
          <a:blip r:embed="rId2" cstate="print">
            <a:alphaModFix amt="20000"/>
          </a:blip>
          <a:srcRect b="13216"/>
          <a:stretch>
            <a:fillRect/>
          </a:stretch>
        </p:blipFill>
        <p:spPr>
          <a:xfrm>
            <a:off x="7546126" y="0"/>
            <a:ext cx="4151671" cy="5794408"/>
          </a:xfrm>
          <a:prstGeom prst="rect">
            <a:avLst/>
          </a:prstGeom>
        </p:spPr>
      </p:pic>
      <p:grpSp>
        <p:nvGrpSpPr>
          <p:cNvPr id="9" name="组合 2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10" name="文本框 3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 lang="zh-CN" altLang="en-US" sz="1400" kern="1200" dirty="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1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12" name="图片 9"/>
          <p:cNvPicPr>
            <a:picLocks noChangeAspect="1"/>
          </p:cNvPicPr>
          <p:nvPr userDrawn="1"/>
        </p:nvPicPr>
        <p:blipFill>
          <a:blip r:embed="rId3" cstate="print">
            <a:alphaModFix amt="21000"/>
          </a:blip>
          <a:srcRect/>
          <a:stretch>
            <a:fillRect/>
          </a:stretch>
        </p:blipFill>
        <p:spPr>
          <a:xfrm>
            <a:off x="0" y="3261146"/>
            <a:ext cx="2999678" cy="4133416"/>
          </a:xfrm>
          <a:prstGeom prst="rect">
            <a:avLst/>
          </a:prstGeom>
        </p:spPr>
      </p:pic>
      <p:pic>
        <p:nvPicPr>
          <p:cNvPr id="13" name="图片 4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8273" y="0"/>
            <a:ext cx="3483086" cy="13061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bg>
      <p:bgPr>
        <a:solidFill>
          <a:schemeClr val="bg1">
            <a:alpha val="0"/>
          </a:schemeClr>
        </a:solidFill>
        <a:effectLst/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45008" y="6356350"/>
            <a:ext cx="274320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08A8F6"/>
        </a:solidFill>
        <a:effectLst/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bg>
      <p:bgPr>
        <a:solidFill>
          <a:schemeClr val="bg1"/>
        </a:solidFill>
        <a:effectLst/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13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25" name="文本框 14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 lang="zh-CN" altLang="en-US" sz="1400" kern="1200" dirty="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26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8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15067" y="171415"/>
            <a:ext cx="5966068" cy="4461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/>
              <a:t>单击此处编辑母版文本</a:t>
            </a:r>
            <a:endParaRPr kumimoji="1" lang="zh-CN" altLang="en-US"/>
          </a:p>
        </p:txBody>
      </p:sp>
      <p:pic>
        <p:nvPicPr>
          <p:cNvPr id="29" name="图片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58425" y="0"/>
            <a:ext cx="2350420" cy="881407"/>
          </a:xfrm>
          <a:prstGeom prst="rect">
            <a:avLst/>
          </a:prstGeom>
        </p:spPr>
      </p:pic>
      <p:sp>
        <p:nvSpPr>
          <p:cNvPr id="30" name="矩形 3"/>
          <p:cNvSpPr/>
          <p:nvPr userDrawn="1"/>
        </p:nvSpPr>
        <p:spPr>
          <a:xfrm>
            <a:off x="0" y="0"/>
            <a:ext cx="12192000" cy="781177"/>
          </a:xfrm>
          <a:prstGeom prst="rect">
            <a:avLst/>
          </a:prstGeom>
          <a:solidFill>
            <a:srgbClr val="08A8F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chemeClr val="bg1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33" name="图片 3"/>
          <p:cNvPicPr>
            <a:picLocks noChangeAspect="1"/>
          </p:cNvPicPr>
          <p:nvPr userDrawn="1"/>
        </p:nvPicPr>
        <p:blipFill rotWithShape="1">
          <a:blip r:embed="rId2" cstate="print">
            <a:alphaModFix amt="35000"/>
            <a:biLevel thresh="25000"/>
          </a:blip>
          <a:srcRect t="32381"/>
          <a:stretch>
            <a:fillRect/>
          </a:stretch>
        </p:blipFill>
        <p:spPr>
          <a:xfrm>
            <a:off x="7482780" y="1381934"/>
            <a:ext cx="3830533" cy="4165580"/>
          </a:xfrm>
          <a:prstGeom prst="rect">
            <a:avLst/>
          </a:prstGeom>
        </p:spPr>
      </p:pic>
      <p:grpSp>
        <p:nvGrpSpPr>
          <p:cNvPr id="34" name="组合 5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35" name="文本框 10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 lang="zh-CN" altLang="en-US" sz="1400" kern="1200" dirty="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36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37" name="图片 4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4478" y="0"/>
            <a:ext cx="2350420" cy="8814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bg>
      <p:bgPr>
        <a:solidFill>
          <a:schemeClr val="bg1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40" name="组合 1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41" name="文本框 2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 lang="zh-CN" altLang="en-US" sz="1400" kern="1200" dirty="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42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3" name="矩形 9"/>
          <p:cNvSpPr/>
          <p:nvPr userDrawn="1"/>
        </p:nvSpPr>
        <p:spPr>
          <a:xfrm>
            <a:off x="456565" y="1199515"/>
            <a:ext cx="1210588" cy="707886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marL="0" marR="0" lvl="0" indent="0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8A8F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8A8F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文本框 10"/>
          <p:cNvSpPr txBox="1"/>
          <p:nvPr userDrawn="1"/>
        </p:nvSpPr>
        <p:spPr>
          <a:xfrm>
            <a:off x="481965" y="576640"/>
            <a:ext cx="41249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CONTENTS</a:t>
            </a:r>
            <a:endParaRPr lang="en-US" altLang="zh-CN" sz="3200" b="1" dirty="0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800000000000000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solidFill>
          <a:schemeClr val="bg1"/>
        </a:solid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47" name="组合 5"/>
          <p:cNvGrpSpPr/>
          <p:nvPr userDrawn="1"/>
        </p:nvGrpSpPr>
        <p:grpSpPr>
          <a:xfrm>
            <a:off x="9906635" y="6367145"/>
            <a:ext cx="2199640" cy="344805"/>
            <a:chOff x="15601" y="10027"/>
            <a:chExt cx="3464" cy="543"/>
          </a:xfrm>
        </p:grpSpPr>
        <p:sp>
          <p:nvSpPr>
            <p:cNvPr id="48" name="文本框 6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 lang="zh-CN" altLang="en-US" sz="1400" kern="1200" dirty="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49" name="直接连接符 7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Source Han Sans CN Normal" panose="020B0800000000000000" charset="-122"/>
                <a:ea typeface="Source Han Sans CN Normal" panose="020B08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7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/>
          <p:nvPr/>
        </p:nvSpPr>
        <p:spPr>
          <a:xfrm>
            <a:off x="3417888" y="5226665"/>
            <a:ext cx="5356225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怎样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都队（上海杉达学院）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  2026.10.12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3" name="文本框 6"/>
          <p:cNvSpPr txBox="1"/>
          <p:nvPr/>
        </p:nvSpPr>
        <p:spPr>
          <a:xfrm>
            <a:off x="1908747" y="1852426"/>
            <a:ext cx="8374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48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OH</a:t>
            </a:r>
            <a:r>
              <a:rPr lang="zh-CN" altLang="en-US" sz="48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创新大赛赛道三作品提交</a:t>
            </a:r>
            <a:endParaRPr lang="en-US" altLang="zh-CN" sz="4800" b="1" dirty="0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800000000000000" charset="-122"/>
            </a:endParaRPr>
          </a:p>
        </p:txBody>
      </p:sp>
      <p:sp>
        <p:nvSpPr>
          <p:cNvPr id="4" name="文本框 10"/>
          <p:cNvSpPr txBox="1"/>
          <p:nvPr/>
        </p:nvSpPr>
        <p:spPr>
          <a:xfrm>
            <a:off x="3232175" y="2868089"/>
            <a:ext cx="5727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衡练</a:t>
            </a:r>
            <a:endParaRPr lang="zh-CN" altLang="en-US" sz="2800" dirty="0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8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26"/>
          <p:cNvSpPr/>
          <p:nvPr/>
        </p:nvSpPr>
        <p:spPr>
          <a:xfrm>
            <a:off x="2741964" y="213821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27"/>
          <p:cNvSpPr/>
          <p:nvPr/>
        </p:nvSpPr>
        <p:spPr>
          <a:xfrm>
            <a:off x="3585244" y="307610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应用核心功能</a:t>
            </a:r>
            <a:endParaRPr lang="en-US" altLang="zh-CN" sz="2400" b="1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8" name="圆角矩形 28"/>
          <p:cNvSpPr/>
          <p:nvPr/>
        </p:nvSpPr>
        <p:spPr>
          <a:xfrm>
            <a:off x="2734344" y="306340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29"/>
          <p:cNvSpPr/>
          <p:nvPr/>
        </p:nvSpPr>
        <p:spPr>
          <a:xfrm>
            <a:off x="3585244" y="400130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创新性</a:t>
            </a:r>
            <a:endParaRPr lang="en-US" altLang="zh-CN" sz="2400" b="1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0" name="圆角矩形 30"/>
          <p:cNvSpPr/>
          <p:nvPr/>
        </p:nvSpPr>
        <p:spPr>
          <a:xfrm>
            <a:off x="2734344" y="398860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44"/>
          <p:cNvSpPr/>
          <p:nvPr/>
        </p:nvSpPr>
        <p:spPr>
          <a:xfrm>
            <a:off x="3597944" y="213821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创作简介</a:t>
            </a:r>
            <a:endParaRPr lang="en-US" altLang="zh-CN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3" name="圆角矩形 29"/>
          <p:cNvSpPr/>
          <p:nvPr/>
        </p:nvSpPr>
        <p:spPr>
          <a:xfrm>
            <a:off x="3597944" y="491379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商业价值</a:t>
            </a:r>
            <a:endParaRPr lang="en-US" altLang="zh-CN" sz="2400" b="1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4" name="圆角矩形 30"/>
          <p:cNvSpPr/>
          <p:nvPr/>
        </p:nvSpPr>
        <p:spPr>
          <a:xfrm>
            <a:off x="2747044" y="490109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r>
              <a:rPr kumimoji="1" lang="zh-CN" altLang="en-US" dirty="0"/>
              <a:t>创作简介</a:t>
            </a:r>
            <a:endParaRPr kumimoji="1"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4"/>
          <p:cNvSpPr txBox="1"/>
          <p:nvPr/>
        </p:nvSpPr>
        <p:spPr>
          <a:xfrm>
            <a:off x="681355" y="2986405"/>
            <a:ext cx="6500495" cy="936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为什么做这款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APP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（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100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字左右）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现代人工作学习与健康难以平衡，而主流健身软件强制联网、功能臃肿、隐私堪忧。我们打造“衡练”APP：一款纯本地运行的运动健康助手，录入数据后由端侧规则引擎即时完成评估、计划与复盘，数据全程不出端，让科学锻炼即开即用、安心可用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19" name="文本框 4"/>
          <p:cNvSpPr txBox="1"/>
          <p:nvPr/>
        </p:nvSpPr>
        <p:spPr>
          <a:xfrm>
            <a:off x="742950" y="4950460"/>
            <a:ext cx="6724015" cy="1907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应用一句话亮点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结合鸿蒙特性版：基于OpenHarmony原生ArkTS/ArkUI开发的端侧运动健康助手，手机、平板双端适配，数据不出端、全程不联网。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强调功能版：“衡”量状态，“练”就健康——30秒录入，即刻获得训练评估、饮食方案与下周计划的专属私人教练。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681316" y="950500"/>
            <a:ext cx="8516472" cy="2011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团队简介：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队长：刘俊材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团队成员：刘洁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学校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&amp;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专业：上海杉达学院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软件工程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指导老师：张青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联络人手机号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&amp;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微信号：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15316589290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r>
              <a:rPr kumimoji="1"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应用核心功能</a:t>
            </a:r>
            <a:endParaRPr kumimoji="1"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3"/>
          <p:cNvSpPr txBox="1"/>
          <p:nvPr/>
        </p:nvSpPr>
        <p:spPr>
          <a:xfrm>
            <a:off x="600634" y="1109012"/>
            <a:ext cx="9010957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数据全程不出端的五大差异化能力（每点一句话）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16002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 全程不联网：</a:t>
            </a:r>
            <a:r>
              <a:rPr sz="1500" b="0">
                <a:solidFill>
                  <a:srgbClr val="44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数据只存本机，飞行模式照常记录分析，隐私零泄露</a:t>
            </a:r>
            <a:endParaRPr sz="1500" b="0">
              <a:solidFill>
                <a:srgbClr val="44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 录入即分析：</a:t>
            </a:r>
            <a:r>
              <a:rPr sz="1500" b="0">
                <a:solidFill>
                  <a:srgbClr val="44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端侧规则引擎30秒出报告，评估、恢复、饮食一次给全</a:t>
            </a:r>
            <a:endParaRPr sz="1500" b="0">
              <a:solidFill>
                <a:srgbClr val="44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 201个结构化动作库：</a:t>
            </a:r>
            <a:r>
              <a:rPr sz="1500" b="0">
                <a:solidFill>
                  <a:srgbClr val="44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器械×部位×难度筛选，配3D解剖示例与常见错误</a:t>
            </a:r>
            <a:endParaRPr sz="1500" b="0">
              <a:solidFill>
                <a:srgbClr val="44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④ 疲劳指数自动排课：</a:t>
            </a:r>
            <a:r>
              <a:rPr sz="1500" b="0">
                <a:solidFill>
                  <a:srgbClr val="44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6周波浪渐进＋末周减载，高疲劳自动加休息日</a:t>
            </a:r>
            <a:endParaRPr sz="1500" b="0">
              <a:solidFill>
                <a:srgbClr val="44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⑤ What-if情景模拟：</a:t>
            </a:r>
            <a:r>
              <a:rPr sz="1500" b="0">
                <a:solidFill>
                  <a:srgbClr val="44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拖滑块改热量与训练次数，4~8周体重趋势即时演算</a:t>
            </a:r>
            <a:endParaRPr sz="1500" b="0">
              <a:solidFill>
                <a:srgbClr val="44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6" name="Picture 25" descr="s1_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874519"/>
            <a:ext cx="1821927" cy="3931920"/>
          </a:xfrm>
          <a:prstGeom prst="rect">
            <a:avLst/>
          </a:prstGeom>
        </p:spPr>
      </p:pic>
      <p:pic>
        <p:nvPicPr>
          <p:cNvPr id="27" name="Picture 26" descr="s4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294" y="1874519"/>
            <a:ext cx="1815887" cy="3931920"/>
          </a:xfrm>
          <a:prstGeom prst="rect">
            <a:avLst/>
          </a:prstGeom>
        </p:spPr>
      </p:pic>
      <p:pic>
        <p:nvPicPr>
          <p:cNvPr id="28" name="Picture 27" descr="s6_libr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8388" y="1874519"/>
            <a:ext cx="1845441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7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创新性</a:t>
            </a:r>
            <a:endParaRPr lang="zh-CN" altLang="en-US" dirty="0"/>
          </a:p>
        </p:txBody>
      </p:sp>
      <p:sp>
        <p:nvSpPr>
          <p:cNvPr id="28" name="文本框 3"/>
          <p:cNvSpPr txBox="1"/>
          <p:nvPr/>
        </p:nvSpPr>
        <p:spPr>
          <a:xfrm>
            <a:off x="600710" y="1108710"/>
            <a:ext cx="8096250" cy="265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体验的创新与提升（每点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50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字左右）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1. 可解释的端侧“私人教练”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本地规则引擎即时输出评估与建议，参数公开可调、结论有据可查，告别黑箱推荐，科学“衡量”每一次训练。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2. What-if 情景模拟决策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拖动滑块调整热量与训练次数，4~8周体重趋势即时演算，目标先看见再执行，让决策从凭感觉变成看得见。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29" name="文本框 4"/>
          <p:cNvSpPr txBox="1"/>
          <p:nvPr/>
        </p:nvSpPr>
        <p:spPr>
          <a:xfrm>
            <a:off x="600710" y="3923665"/>
            <a:ext cx="8702040" cy="265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接入的鸿蒙特性（每点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50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字左右）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1. 原生ArkTS/ArkUI全端适配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基于OpenHarmony Stage模型原生开发，一次开发适配手机与平板，深浅色双主题随系统自动切换，纯净无广告。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2. 端侧持久化与本地备份迁移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preferences本地存储＋沙箱备份导出，数据全程不出端、零网络请求，换机经系统文件管理器迁移，隐私安全可验证。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2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商业价值</a:t>
            </a:r>
            <a:endParaRPr lang="zh-CN" altLang="en-US" dirty="0"/>
          </a:p>
        </p:txBody>
      </p:sp>
      <p:sp>
        <p:nvSpPr>
          <p:cNvPr id="33" name="文本框 3"/>
          <p:cNvSpPr txBox="1"/>
          <p:nvPr/>
        </p:nvSpPr>
        <p:spPr>
          <a:xfrm>
            <a:off x="600710" y="1108710"/>
            <a:ext cx="7005955" cy="425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用户范围（约85字）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核心用户：注重隐私的健身爱好者、常在地下室/户外等弱网环境锻炼的人群、需要科学指导的健身新手。凭借“不联网、无广告、即开即用”的口碑，优先吸引对臃肿App厌倦的极简主义与硬核健身人群。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 商业潜力（盈利模式与市场前景）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1. 基础免费＋高级买断：记录、评估、排课免费；进阶计划包与高级数据分析模块一次性买断。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2. 企业私有化部署：为健身房、私教工作室提供定制离线终端（预装平板），数据留在店内内网，按点位收授权费。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3. 数字内容增值：销售专业教练的离线训练课程包（动作精讲/计划编排），纯本地交付，零服务器成本。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4. 边际成本趋零：无云端服务器与运维投入，用户增长不增加成本，口碑驱动自然获客。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6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Demo</a:t>
            </a:r>
            <a:endParaRPr lang="zh-CN" altLang="en-US" dirty="0"/>
          </a:p>
        </p:txBody>
      </p:sp>
      <p:sp>
        <p:nvSpPr>
          <p:cNvPr id="37" name="文本框 3"/>
          <p:cNvSpPr txBox="1"/>
          <p:nvPr/>
        </p:nvSpPr>
        <p:spPr>
          <a:xfrm>
            <a:off x="600634" y="1109012"/>
            <a:ext cx="3836895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1分43秒完整演示：录入即分析 → 自动排课 → 动作库 → 记一餐 → 情景模拟（双击播放）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pic>
        <p:nvPicPr>
          <p:cNvPr id="38" name="衡练_应用介绍视频_720x1280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835842" y="1828800"/>
            <a:ext cx="2520315" cy="4480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8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A8F6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8"/>
          <p:cNvSpPr txBox="1"/>
          <p:nvPr/>
        </p:nvSpPr>
        <p:spPr>
          <a:xfrm>
            <a:off x="3557237" y="1942121"/>
            <a:ext cx="507752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armonyOS Sans" panose="00000800000000000000" charset="0"/>
              </a:rPr>
              <a:t>谢  谢</a:t>
            </a:r>
            <a:endParaRPr kumimoji="0" lang="en-US" altLang="zh-CN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armonyOS Sans" panose="00000800000000000000" charset="0"/>
            </a:endParaRPr>
          </a:p>
        </p:txBody>
      </p:sp>
      <p:sp>
        <p:nvSpPr>
          <p:cNvPr id="40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1275</Words>
  <Application>WPS 演示</Application>
  <PresentationFormat/>
  <Paragraphs>98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9" baseType="lpstr">
      <vt:lpstr>Arial</vt:lpstr>
      <vt:lpstr>宋体</vt:lpstr>
      <vt:lpstr>Wingdings</vt:lpstr>
      <vt:lpstr>Source Han Sans CN Normal</vt:lpstr>
      <vt:lpstr>微软雅黑</vt:lpstr>
      <vt:lpstr>Source Han Sans CN Bold</vt:lpstr>
      <vt:lpstr>Source Han Sans CN Regular</vt:lpstr>
      <vt:lpstr>Microsoft YaHei Regular</vt:lpstr>
      <vt:lpstr>HarmonyOS Sans</vt:lpstr>
      <vt:lpstr>Segoe Print</vt:lpstr>
      <vt:lpstr>Arial Unicode MS</vt:lpstr>
      <vt:lpstr>等线</vt:lpstr>
      <vt:lpstr>Calibri</vt:lpstr>
      <vt:lpstr>Microsoft YaHei Regular</vt:lpstr>
      <vt:lpstr>Source Han Sans CN Bold</vt:lpstr>
      <vt:lpstr>Source Han Sans CN Normal</vt:lpstr>
      <vt:lpstr>Source Han Sans CN Regular</vt:lpstr>
      <vt:lpstr>Saturday Sans Regular</vt:lpstr>
      <vt:lpstr>Wonder Sans Bold</vt:lpstr>
      <vt:lpstr>Oxford Regular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刘俊材</cp:lastModifiedBy>
  <cp:revision>4</cp:revision>
  <dcterms:created xsi:type="dcterms:W3CDTF">2026-10-12T11:22:00Z</dcterms:created>
  <dcterms:modified xsi:type="dcterms:W3CDTF">2026-10-12T12:06:29Z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E3D8E8284EE44C0DBF08F3E2C87BCB95_13</vt:lpwstr>
  </property>
</Properties>
</file>